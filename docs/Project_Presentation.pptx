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A94E"/>
                </a:solidFill>
                <a:latin typeface="Calibri"/>
              </a:rPr>
              <a:t>METRO PROPERTY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EEF0F4"/>
                </a:solidFill>
                <a:latin typeface="Calibri"/>
              </a:rPr>
              <a:t>Bilingual AI 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AA1B2"/>
                </a:solidFill>
                <a:latin typeface="Calibri"/>
              </a:rPr>
              <a:t>An end-to-end voice AI product — built, deployed, and debugged on real phone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1B2"/>
                </a:solidFill>
                <a:latin typeface="Calibri"/>
              </a:rPr>
              <a:t>Hindi + English  ·  Twilio  ·  faster-whisper  ·  Claude Haiku  ·  edge-tts  ·  Deployed on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Property shops lose leads to missed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b="1" sz="1700">
                <a:solidFill>
                  <a:srgbClr val="F0A94E"/>
                </a:solidFill>
                <a:latin typeface="Calibri"/>
              </a:rPr>
              <a:t>▸  Missed calls are lost customers.</a:t>
            </a:r>
            <a:r>
              <a:rPr sz="1700">
                <a:solidFill>
                  <a:srgbClr val="EEF0F4"/>
                </a:solidFill>
                <a:latin typeface="Calibri"/>
              </a:rPr>
              <a:t>  When the office is busy or closed, the caller just tries a competitor instead.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b="1" sz="1700">
                <a:solidFill>
                  <a:srgbClr val="F0A94E"/>
                </a:solidFill>
                <a:latin typeface="Calibri"/>
              </a:rPr>
              <a:t>▸  Generic chatbots don't fit.</a:t>
            </a:r>
            <a:r>
              <a:rPr sz="1700">
                <a:solidFill>
                  <a:srgbClr val="EEF0F4"/>
                </a:solidFill>
                <a:latin typeface="Calibri"/>
              </a:rPr>
              <a:t>  Most AI portfolio pieces are English-only text chat — the real customers here call in Hindi, English, or both.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b="1" sz="1700">
                <a:solidFill>
                  <a:srgbClr val="F0A94E"/>
                </a:solidFill>
                <a:latin typeface="Calibri"/>
              </a:rPr>
              <a:t>▸  No client, no spec.</a:t>
            </a:r>
            <a:r>
              <a:rPr sz="1700">
                <a:solidFill>
                  <a:srgbClr val="EEF0F4"/>
                </a:solidFill>
                <a:latin typeface="Calibri"/>
              </a:rPr>
              <a:t>  Built unsolicited for a real local business — the scope, call flow, and features were mine to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What the agent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Answers inbound calls AND places outbound advertisement calls — same agent, direction-aware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Understands Hindi, English, or mixed Hinglish — and replies in kind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Gathers requirement (buy/rent, budget, locality) and matches real listings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Verifies budget fit with actual arithmetic before claiming a match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Captures name + phone + requirement as a lead, saved the moment it's known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Recognizes when a caller is busy and wraps up gracefully instead of interrogating them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Every call is fully recorded as a durable artifact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How a call actually flows through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82880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26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0F4"/>
                </a:solidFill>
              </a:rPr>
              <a:t>Caller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2103120"/>
            <a:ext cx="182880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26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0F4"/>
                </a:solidFill>
              </a:rPr>
              <a:t>Twilio
(telephony)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103120"/>
            <a:ext cx="182880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26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EF0F4"/>
                </a:solidFill>
              </a:rPr>
              <a:t>FastAPI
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AA1B2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AA1B2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329184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26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500">
                <a:solidFill>
                  <a:srgbClr val="F0A94E"/>
                </a:solidFill>
              </a:rPr>
              <a:t>STT  —  faster-whisper</a:t>
            </a:r>
          </a:p>
          <a:p>
            <a:r>
              <a:rPr sz="1200">
                <a:solidFill>
                  <a:srgbClr val="9AA1B2"/>
                </a:solidFill>
              </a:rPr>
              <a:t>self-hosted, GPU-accelerated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383280"/>
            <a:ext cx="329184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26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500">
                <a:solidFill>
                  <a:srgbClr val="F0A94E"/>
                </a:solidFill>
              </a:rPr>
              <a:t>LLM  —  Claude Haiku 4.5</a:t>
            </a:r>
          </a:p>
          <a:p>
            <a:r>
              <a:rPr sz="1200">
                <a:solidFill>
                  <a:srgbClr val="9AA1B2"/>
                </a:solidFill>
              </a:rPr>
              <a:t>conversation + tool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383280"/>
            <a:ext cx="329184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26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500">
                <a:solidFill>
                  <a:srgbClr val="F0A94E"/>
                </a:solidFill>
              </a:rPr>
              <a:t>TTS  —  edge-tts</a:t>
            </a:r>
          </a:p>
          <a:p>
            <a:r>
              <a:rPr sz="1200">
                <a:solidFill>
                  <a:srgbClr val="9AA1B2"/>
                </a:solidFill>
              </a:rPr>
              <a:t>free, Indian-accented 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9AA1B2"/>
                </a:solidFill>
                <a:latin typeface="Calibri"/>
              </a:rPr>
              <a:t>+ SQLite for durable lead storage · background task + poll loop to fit Twilio's sync webhook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1B2"/>
                </a:solidFill>
                <a:latin typeface="Calibri"/>
              </a:rPr>
              <a:t>Why this stack: every component is free or self-hosted — proves the product before committing to recurring cost. That's a deliberate tradeoff (see the latency slide), not an oversight.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THE HARDEST ENGINEERING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Twilio's synchronous webhook vs. an 8–14 second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9AA1B2"/>
                </a:solidFill>
                <a:latin typeface="Calibri"/>
              </a:rPr>
              <a:t>Twilio's voice webhook must respond fast or it gives up with a generic error. This pipeline's full STT → LLM → TTS chain realistically takes 8–14 seconds — too slow to fit in one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11064240" cy="356616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lnSpc>
                <a:spcPct val="125000"/>
              </a:lnSpc>
            </a:pPr>
            <a:r>
              <a:rPr sz="1500" i="1">
                <a:solidFill>
                  <a:srgbClr val="5EC9A8"/>
                </a:solidFill>
                <a:latin typeface="Consolas"/>
              </a:rPr>
              <a:t># Respond to Twilio INSTANTLY, process the turn in the background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>@router.post("/handle-recording")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>def handle_recording(background_tasks, CallSid, RecordingUrl):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>    call_results[CallSid] = {"status": "processing"}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>    background_tasks.add_task(_process_turn_in_background, CallSid, RecordingUrl)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>    vr.play(filler_audio_in_callers_own_language)   # "Hmm... just a second..."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>    return redirect_to_poll(attempt=1)               # returns in &lt;100ms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EF0F4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500" i="1">
                <a:solidFill>
                  <a:srgbClr val="5EC9A8"/>
                </a:solidFill>
                <a:latin typeface="Consolas"/>
              </a:rPr>
              <a:t># A separate poll loop holds the caller with short pauses + filler</a:t>
            </a:r>
          </a:p>
          <a:p>
            <a:pPr>
              <a:lnSpc>
                <a:spcPct val="125000"/>
              </a:lnSpc>
            </a:pPr>
            <a:r>
              <a:rPr sz="1500" i="1">
                <a:solidFill>
                  <a:srgbClr val="5EC9A8"/>
                </a:solidFill>
                <a:latin typeface="Consolas"/>
              </a:rPr>
              <a:t># phrases until the background task finishes - never blocking Twilio.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DEBUGGED FROM REAL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Bugs that only showed up on real, live phone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b="1" sz="1500">
                <a:solidFill>
                  <a:srgbClr val="F0A94E"/>
                </a:solidFill>
                <a:latin typeface="Calibri"/>
              </a:rPr>
              <a:t>▸  Token truncation corrupted conversation state.</a:t>
            </a:r>
            <a:r>
              <a:rPr sz="1500">
                <a:solidFill>
                  <a:srgbClr val="EEF0F4"/>
                </a:solidFill>
                <a:latin typeface="Calibri"/>
              </a:rPr>
              <a:t>  A tight token limit cut off a tool call mid-generation, silently breaking every later turn in that call.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b="1" sz="1500">
                <a:solidFill>
                  <a:srgbClr val="F0A94E"/>
                </a:solidFill>
                <a:latin typeface="Calibri"/>
              </a:rPr>
              <a:t>▸  Agent claimed a listing was “within budget” — it was almost double.</a:t>
            </a:r>
            <a:r>
              <a:rPr sz="1500">
                <a:solidFill>
                  <a:srgbClr val="EEF0F4"/>
                </a:solidFill>
                <a:latin typeface="Calibri"/>
              </a:rPr>
              <a:t>  The model was pattern-matching on vibes, not doing arithmetic. Fixed by requiring an explicit numeric check.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b="1" sz="1500">
                <a:solidFill>
                  <a:srgbClr val="F0A94E"/>
                </a:solidFill>
                <a:latin typeface="Calibri"/>
              </a:rPr>
              <a:t>▸  A latency optimization dropped an entire caller turn.</a:t>
            </a:r>
            <a:r>
              <a:rPr sz="1500">
                <a:solidFill>
                  <a:srgbClr val="EEF0F4"/>
                </a:solidFill>
                <a:latin typeface="Calibri"/>
              </a:rPr>
              <a:t>  Trimming the silence-timeout for snappier replies caused a real recording to cut off mid-sentence. Reverted — a lost turn is worse than 1 extra second.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b="1" sz="1500">
                <a:solidFill>
                  <a:srgbClr val="F0A94E"/>
                </a:solidFill>
                <a:latin typeface="Calibri"/>
              </a:rPr>
              <a:t>▸  The “thinking” filler played in the wrong language.</a:t>
            </a:r>
            <a:r>
              <a:rPr sz="1500">
                <a:solidFill>
                  <a:srgbClr val="EEF0F4"/>
                </a:solidFill>
                <a:latin typeface="Calibri"/>
              </a:rPr>
              <a:t>  Hardcoded to Hindi regardless of the caller's actual language. Fixed to be bilingual and per-call.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CORRECTNESS OVER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Forcing the model to actually do the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BUDGET ACCURACY IS NON-NEGOTIABLE: before describing a listing, actually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do the arithmetic comparing its price to the caller's stated budget.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Never say a price is "within budget", "right around your budget", or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similar UNLESS it genuinely is close (within ~10%). If every listing in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the requested area is meaningfully above or below budget, say so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plainly ... never paper over a real mismatch with vague reassuring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language. Getting this wrong isn't a rounding error, it actively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>misleads the caller about what they can afford.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EEF0F4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600" i="1">
                <a:solidFill>
                  <a:srgbClr val="5EC9A8"/>
                </a:solidFill>
                <a:latin typeface="Consolas"/>
              </a:rPr>
              <a:t># -- system prompt excerpt, app/llm/prompts.py 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LIVE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A real dashboard, not just an API response</a:t>
            </a:r>
          </a:p>
        </p:txBody>
      </p:sp>
      <p:pic>
        <p:nvPicPr>
          <p:cNvPr id="4" name="Picture 3" descr="Owners dashboard user 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37360"/>
            <a:ext cx="9601200" cy="608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REAL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Deployed and running, not just running on a laptop</a:t>
            </a:r>
          </a:p>
        </p:txBody>
      </p:sp>
      <p:pic>
        <p:nvPicPr>
          <p:cNvPr id="4" name="Picture 3" descr="Where we deploy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37360"/>
            <a:ext cx="9601200" cy="48560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94E"/>
                </a:solidFill>
                <a:latin typeface="Calibri"/>
              </a:rP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EF0F4"/>
                </a:solidFill>
                <a:latin typeface="Calibri"/>
              </a:rPr>
              <a:t>What this project actually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Real-time multimodal pipeline engineering (STT + LLM + TTS under latency constraints)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Working around hard platform constraints (async background task + poll pattern)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Multilingual conversational AI with correct grammatical agreement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Honest latency engineering — measured, root-caused, designed around, not hidden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Debugging from production signal, not just unit tests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Cost-conscious architecture on free/low-cost infrastructure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Independent product scoping with no client spec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EEF0F4"/>
                </a:solidFill>
                <a:latin typeface="Calibri"/>
              </a:rPr>
              <a:t>•  Full deployment ownership: GitHub, Railway, DNS/ports, secrets, telephony config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EF0F4"/>
                </a:solidFill>
                <a:latin typeface="Calibri"/>
              </a:rPr>
              <a:t>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A94E"/>
                </a:solidFill>
                <a:latin typeface="Calibri"/>
              </a:rPr>
              <a:t>Phone: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EF0F4"/>
                </a:solidFill>
                <a:latin typeface="Calibri"/>
              </a:rPr>
              <a:t>+1 (659) 234-7944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A94E"/>
                </a:solidFill>
                <a:latin typeface="Calibri"/>
              </a:rPr>
              <a:t>Dashboard: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EF0F4"/>
                </a:solidFill>
                <a:latin typeface="Calibri"/>
              </a:rPr>
              <a:t>metro-property-shop-voice-agent-production.up.railway.app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A94E"/>
                </a:solidFill>
                <a:latin typeface="Calibri"/>
              </a:rPr>
              <a:t>GitHub: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EF0F4"/>
                </a:solidFill>
                <a:latin typeface="Calibri"/>
              </a:rPr>
              <a:t>github.com/HamzaAITech/metro-property-shop-voice-agent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9AA1B2"/>
                </a:solidFill>
                <a:latin typeface="Calibri"/>
              </a:rPr>
              <a:t>Built, deployed, and debugged end-to-end — not just a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